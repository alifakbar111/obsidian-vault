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965960"/>
            <a:ext cx="329184" cy="329184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3" name="Shape 1"/>
          <p:cNvSpPr/>
          <p:nvPr/>
        </p:nvSpPr>
        <p:spPr>
          <a:xfrm>
            <a:off x="1325880" y="1965960"/>
            <a:ext cx="329184" cy="329184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4" name="Shape 2"/>
          <p:cNvSpPr/>
          <p:nvPr/>
        </p:nvSpPr>
        <p:spPr>
          <a:xfrm>
            <a:off x="1783080" y="1965960"/>
            <a:ext cx="329184" cy="329184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5" name="Shape 3"/>
          <p:cNvSpPr/>
          <p:nvPr/>
        </p:nvSpPr>
        <p:spPr>
          <a:xfrm>
            <a:off x="2240280" y="1965960"/>
            <a:ext cx="329184" cy="329184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6" name="Shape 4"/>
          <p:cNvSpPr/>
          <p:nvPr/>
        </p:nvSpPr>
        <p:spPr>
          <a:xfrm>
            <a:off x="2697480" y="1965960"/>
            <a:ext cx="329184" cy="329184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4672" y="30632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AI agents that work across </a:t>
            </a:r>
            <a:pPr indent="0" marL="0">
              <a:buNone/>
            </a:pPr>
            <a:r>
              <a:rPr lang="en-US" sz="1900" b="1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tool, any project.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Sharing Session</a:t>
            </a:r>
            <a:pPr indent="0" marL="0">
              <a:buNone/>
            </a:pPr>
            <a:r>
              <a:rPr lang="en-US" sz="1300" dirty="0">
                <a:solidFill>
                  <a:srgbClr val="7E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6243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ad-hoc prompting to engineering the agent.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384048" cy="384048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429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5-layer 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858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Skills · Hooks · Subagents · Distribution.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384048" cy="384048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663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kit, for real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50932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.claude/ setup we run day to day.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2286000"/>
            <a:ext cx="384048" cy="384048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subagents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26243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and how the two pair up.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3520440"/>
            <a:ext cx="384048" cy="384048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429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03720" y="3858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agent-manager routes a real task end to end.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4754880"/>
            <a:ext cx="384048" cy="384048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4663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it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50932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into any project, any tool.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AI help was ad-hoc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615184"/>
            <a:ext cx="164592" cy="164592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523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Re-explained context every session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63040" y="29626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conventions, where things live — typed out again and again.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615184"/>
            <a:ext cx="164592" cy="164592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523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output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12280" y="29626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 came back a different shape each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4352544"/>
            <a:ext cx="164592" cy="164592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261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guardrails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63040" y="470001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skip a check, miss a step, ship a mistake.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023360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4352544"/>
            <a:ext cx="164592" cy="164592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4261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stayed in one head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812280" y="470001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else could reuse the good prompts.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0391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265176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prompting.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engineering the agent.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 configuration as code — versioned, shared, reviewed. The kit is the system that makes that real, in any repo.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one stack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1947672" cy="1783080"/>
          </a:xfrm>
          <a:prstGeom prst="roundRect">
            <a:avLst>
              <a:gd name="adj" fmla="val 3590"/>
            </a:avLst>
          </a:prstGeom>
          <a:solidFill>
            <a:srgbClr val="D94F4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26440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6667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rules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34056" y="2697480"/>
            <a:ext cx="320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017520" y="2697480"/>
            <a:ext cx="1947672" cy="1783080"/>
          </a:xfrm>
          <a:prstGeom prst="roundRect">
            <a:avLst>
              <a:gd name="adj" fmla="val 3590"/>
            </a:avLst>
          </a:prstGeom>
          <a:solidFill>
            <a:srgbClr val="D29A2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326440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36667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expertise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28616" y="2697480"/>
            <a:ext cx="320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212080" y="2697480"/>
            <a:ext cx="1947672" cy="1783080"/>
          </a:xfrm>
          <a:prstGeom prst="roundRect">
            <a:avLst>
              <a:gd name="adj" fmla="val 3590"/>
            </a:avLst>
          </a:prstGeom>
          <a:solidFill>
            <a:srgbClr val="DE7A2B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326440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36667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23176" y="2697480"/>
            <a:ext cx="320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406640" y="2697480"/>
            <a:ext cx="1947672" cy="1783080"/>
          </a:xfrm>
          <a:prstGeom prst="roundRect">
            <a:avLst>
              <a:gd name="adj" fmla="val 3590"/>
            </a:avLst>
          </a:prstGeom>
          <a:solidFill>
            <a:srgbClr val="3E7FD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326440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640" y="36667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17736" y="2697480"/>
            <a:ext cx="320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601200" y="2697480"/>
            <a:ext cx="1947672" cy="1783080"/>
          </a:xfrm>
          <a:prstGeom prst="roundRect">
            <a:avLst>
              <a:gd name="adj" fmla="val 3590"/>
            </a:avLst>
          </a:prstGeom>
          <a:solidFill>
            <a:srgbClr val="8E5BE6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0" y="326440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36667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all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a markdown / code convention the AI tool reads automatically.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once → every session, and every teammate, starts smarter.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MEMORY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constitution — always loaded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2340864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root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file the AI reads on every session.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rules/ — focused docs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80160" y="3694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code-style, testing, i18n, error-handling.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conventions once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never have to be re-explained.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561320" cy="603504"/>
          </a:xfrm>
          <a:prstGeom prst="roundRect">
            <a:avLst>
              <a:gd name="adj" fmla="val 9091"/>
            </a:avLst>
          </a:prstGeom>
          <a:solidFill>
            <a:srgbClr val="EDEEF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3212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D9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repeating “here’s how this repo works” every time.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SKILLS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expertise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2340864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SKILL.md per capability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description; the AI matches it to the task.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templates &amp; scripts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80160" y="3694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scaffolders, generators, repeatable workflows.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only when relevant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keeps context lean.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561320" cy="603504"/>
          </a:xfrm>
          <a:prstGeom prst="roundRect">
            <a:avLst>
              <a:gd name="adj" fmla="val 9091"/>
            </a:avLst>
          </a:prstGeom>
          <a:solidFill>
            <a:srgbClr val="EDEEF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3212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D2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add a translation, scaffold a route, wire an API.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HOOKS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 — not AI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2340864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that fire on events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lint, regenerate types, run a check.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mistakes automatically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80160" y="3694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you’d forget can’t be forgotten.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no matter what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PostToolUse hook (post-edit.mjs) or git hooks.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561320" cy="603504"/>
          </a:xfrm>
          <a:prstGeom prst="roundRect">
            <a:avLst>
              <a:gd name="adj" fmla="val 9091"/>
            </a:avLst>
          </a:prstGeom>
          <a:solidFill>
            <a:srgbClr val="EDEEF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3212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D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hooks, but for your agent. Deterministic, repeatable.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SUBAGENTS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the noise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2340864"/>
            <a:ext cx="182880" cy="1828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context window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 does one job and returns just the result.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182880" cy="1828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main thread clean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80160" y="3694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audits, test runs happen off to the side.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82880" cy="1828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 for the job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models for reasoning, lean ones for grunt work.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561320" cy="603504"/>
          </a:xfrm>
          <a:prstGeom prst="roundRect">
            <a:avLst>
              <a:gd name="adj" fmla="val 9091"/>
            </a:avLst>
          </a:prstGeom>
          <a:solidFill>
            <a:srgbClr val="EDEEF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3212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3E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like: planner, code-reviewer, bug-hunter, test-runner.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DISTRIBUTION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 — the team installs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2340864"/>
            <a:ext cx="182880" cy="182880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the repo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 and the rules + hooks are already active.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182880" cy="182880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as a plugin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80160" y="3694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agents, commands, hooks travel together (plugin.json).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82880" cy="182880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reach everyone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repo, the kit updates.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561320" cy="603504"/>
          </a:xfrm>
          <a:prstGeom prst="roundRect">
            <a:avLst>
              <a:gd name="adj" fmla="val 9091"/>
            </a:avLst>
          </a:prstGeom>
          <a:solidFill>
            <a:srgbClr val="EDEEF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3212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8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team levels up together — not one prompt at a time.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TOOL-AGNOSTIC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idea, many tools</a:t>
            </a:r>
            <a:endParaRPr lang="en-US" sz="3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613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240280"/>
                <a:gridCol w="2103120"/>
                <a:gridCol w="2103120"/>
                <a:gridCol w="2423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Claude Code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opencode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Cline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Portable choice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.claude/rules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opencode.json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.clinerules/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4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AGENTS.md + .agents/rules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.claude/skills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reads .agents/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reads .claude/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4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.agents/skills/SKILL.md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settings.json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 plugins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.clinerules/hooks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4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hooks (lefthook)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.claude/agents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.opencode/agents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workflows /name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4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.agents/agents + adapters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.claude-plugin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opencode plugins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57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committed files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4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repo + AGENTS.md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5216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+ .agents/skills/</a:t>
            </a:r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read by all three tools unchanged — and the same idea runs on Qwen, DeepSeek or Kimi via opencode / Cline.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built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6126480" cy="3977640"/>
          </a:xfrm>
          <a:prstGeom prst="roundRect">
            <a:avLst>
              <a:gd name="adj" fmla="val 1379"/>
            </a:avLst>
          </a:prstGeom>
          <a:solidFill>
            <a:srgbClr val="1B223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68880"/>
            <a:ext cx="5577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8E5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.claude-plugin/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8B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plugin.json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D94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rules/            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docs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D2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skills/           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skills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E7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agents/           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subagents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6D5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commands/         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commands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hooks/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8B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post-edit.mjs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7CD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settings.json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2368296"/>
            <a:ext cx="201168" cy="201168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8" name="Text 6"/>
          <p:cNvSpPr/>
          <p:nvPr/>
        </p:nvSpPr>
        <p:spPr>
          <a:xfrm>
            <a:off x="7699248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99248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Memory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60920" y="2971800"/>
            <a:ext cx="201168" cy="201168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11" name="Text 9"/>
          <p:cNvSpPr/>
          <p:nvPr/>
        </p:nvSpPr>
        <p:spPr>
          <a:xfrm>
            <a:off x="7699248" y="2935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99248" y="3209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Skills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60920" y="3575304"/>
            <a:ext cx="201168" cy="201168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7699248" y="3538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hooks/ + settings.json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99248" y="3813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Hooks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0920" y="4178808"/>
            <a:ext cx="201168" cy="201168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7" name="Text 15"/>
          <p:cNvSpPr/>
          <p:nvPr/>
        </p:nvSpPr>
        <p:spPr>
          <a:xfrm>
            <a:off x="7699248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99248" y="4416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Subagents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4782312"/>
            <a:ext cx="201168" cy="201168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20" name="Text 18"/>
          <p:cNvSpPr/>
          <p:nvPr/>
        </p:nvSpPr>
        <p:spPr>
          <a:xfrm>
            <a:off x="7699248" y="4745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.claude-plugin/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99248" y="5020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Distribution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60920" y="5385816"/>
            <a:ext cx="201168" cy="20116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23" name="Text 21"/>
          <p:cNvSpPr/>
          <p:nvPr/>
        </p:nvSpPr>
        <p:spPr>
          <a:xfrm>
            <a:off x="7699248" y="5349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99248" y="5623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Slash-command triggers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SKILLS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8 skills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74920" cy="818388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15568" y="232257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add-translation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15568" y="259232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i18n keys across locales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24958" y="2340864"/>
            <a:ext cx="716890" cy="292608"/>
          </a:xfrm>
          <a:prstGeom prst="roundRect">
            <a:avLst>
              <a:gd name="adj" fmla="val 50000"/>
            </a:avLst>
          </a:prstGeom>
          <a:solidFill>
            <a:srgbClr val="FBF3DC"/>
          </a:solidFill>
          <a:ln/>
        </p:spPr>
      </p:sp>
      <p:sp>
        <p:nvSpPr>
          <p:cNvPr id="9" name="Text 7"/>
          <p:cNvSpPr/>
          <p:nvPr/>
        </p:nvSpPr>
        <p:spPr>
          <a:xfrm>
            <a:off x="4924958" y="2340864"/>
            <a:ext cx="71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074920" cy="818388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01968" y="232257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new-feature-route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601968" y="259232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 new page &amp; route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21317" y="2340864"/>
            <a:ext cx="1506931" cy="292608"/>
          </a:xfrm>
          <a:prstGeom prst="roundRect">
            <a:avLst>
              <a:gd name="adj" fmla="val 50000"/>
            </a:avLst>
          </a:prstGeom>
          <a:solidFill>
            <a:srgbClr val="FBF3DC"/>
          </a:solidFill>
          <a:ln/>
        </p:spPr>
      </p:sp>
      <p:sp>
        <p:nvSpPr>
          <p:cNvPr id="14" name="Text 12"/>
          <p:cNvSpPr/>
          <p:nvPr/>
        </p:nvSpPr>
        <p:spPr>
          <a:xfrm>
            <a:off x="9621317" y="234086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+ scripts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3177540"/>
            <a:ext cx="5074920" cy="818388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15568" y="330555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wire-api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15568" y="357530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UI to an API endpoint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93285" y="3323844"/>
            <a:ext cx="848563" cy="292608"/>
          </a:xfrm>
          <a:prstGeom prst="roundRect">
            <a:avLst>
              <a:gd name="adj" fmla="val 50000"/>
            </a:avLst>
          </a:prstGeom>
          <a:solidFill>
            <a:srgbClr val="FBF3DC"/>
          </a:solidFill>
          <a:ln/>
        </p:spPr>
      </p:sp>
      <p:sp>
        <p:nvSpPr>
          <p:cNvPr id="19" name="Text 17"/>
          <p:cNvSpPr/>
          <p:nvPr/>
        </p:nvSpPr>
        <p:spPr>
          <a:xfrm>
            <a:off x="4793285" y="3323844"/>
            <a:ext cx="8485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3177540"/>
            <a:ext cx="5074920" cy="818388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01968" y="330555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frontend-design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01968" y="357530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 &amp; visual standards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345522" y="3323844"/>
            <a:ext cx="782726" cy="292608"/>
          </a:xfrm>
          <a:prstGeom prst="roundRect">
            <a:avLst>
              <a:gd name="adj" fmla="val 50000"/>
            </a:avLst>
          </a:prstGeom>
          <a:solidFill>
            <a:srgbClr val="FBF3DC"/>
          </a:solidFill>
          <a:ln/>
        </p:spPr>
      </p:sp>
      <p:sp>
        <p:nvSpPr>
          <p:cNvPr id="24" name="Text 22"/>
          <p:cNvSpPr/>
          <p:nvPr/>
        </p:nvSpPr>
        <p:spPr>
          <a:xfrm>
            <a:off x="10345522" y="3323844"/>
            <a:ext cx="782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4160520"/>
            <a:ext cx="5074920" cy="818388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15568" y="428853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115568" y="45582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diffs against our conventions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4160520"/>
            <a:ext cx="5074920" cy="818388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01968" y="428853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find-bugs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601968" y="45582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bug investigation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" y="5143500"/>
            <a:ext cx="5074920" cy="818388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15568" y="527151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115568" y="554126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for vulns (RSC / CVE-aware)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59122" y="5289804"/>
            <a:ext cx="782726" cy="292608"/>
          </a:xfrm>
          <a:prstGeom prst="roundRect">
            <a:avLst>
              <a:gd name="adj" fmla="val 50000"/>
            </a:avLst>
          </a:prstGeom>
          <a:solidFill>
            <a:srgbClr val="FBF3DC"/>
          </a:solidFill>
          <a:ln/>
        </p:spPr>
      </p:sp>
      <p:sp>
        <p:nvSpPr>
          <p:cNvPr id="35" name="Text 33"/>
          <p:cNvSpPr/>
          <p:nvPr/>
        </p:nvSpPr>
        <p:spPr>
          <a:xfrm>
            <a:off x="4859122" y="5289804"/>
            <a:ext cx="782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5143500"/>
            <a:ext cx="5074920" cy="818388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01968" y="527151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601968" y="554126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behaviour-preserving refactors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SUBAGENTS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10 subagents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15568" y="21488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21671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task into a plan first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65192" y="2331720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AF1EA"/>
          </a:solidFill>
          <a:ln/>
        </p:spPr>
      </p:sp>
      <p:sp>
        <p:nvSpPr>
          <p:cNvPr id="9" name="Text 7"/>
          <p:cNvSpPr/>
          <p:nvPr/>
        </p:nvSpPr>
        <p:spPr>
          <a:xfrm>
            <a:off x="4965192" y="233172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01968" y="21488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agent-manager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01968" y="21671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maintain the agents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451592" y="2331720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10451592" y="233172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295351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15568" y="29535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route-builder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29718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pages &amp; routes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65192" y="313639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19" name="Text 17"/>
          <p:cNvSpPr/>
          <p:nvPr/>
        </p:nvSpPr>
        <p:spPr>
          <a:xfrm>
            <a:off x="4965192" y="313639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95351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01968" y="29535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01968" y="29718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diffs for quality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51592" y="313639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AF1EA"/>
          </a:solidFill>
          <a:ln/>
        </p:spPr>
      </p:sp>
      <p:sp>
        <p:nvSpPr>
          <p:cNvPr id="24" name="Text 22"/>
          <p:cNvSpPr/>
          <p:nvPr/>
        </p:nvSpPr>
        <p:spPr>
          <a:xfrm>
            <a:off x="10451592" y="313639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3758184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15568" y="37581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api-integrator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15568" y="37764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endpoints into the UI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65192" y="3941064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29" name="Text 27"/>
          <p:cNvSpPr/>
          <p:nvPr/>
        </p:nvSpPr>
        <p:spPr>
          <a:xfrm>
            <a:off x="4965192" y="394106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3758184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01968" y="37581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bug-hunter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01968" y="37764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diagnose bugs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451592" y="3941064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AF1EA"/>
          </a:solidFill>
          <a:ln/>
        </p:spPr>
      </p:sp>
      <p:sp>
        <p:nvSpPr>
          <p:cNvPr id="34" name="Text 32"/>
          <p:cNvSpPr/>
          <p:nvPr/>
        </p:nvSpPr>
        <p:spPr>
          <a:xfrm>
            <a:off x="10451592" y="394106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4562856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15568" y="456285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ui-ux-designer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15568" y="458114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layout work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965192" y="4745736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39" name="Text 37"/>
          <p:cNvSpPr/>
          <p:nvPr/>
        </p:nvSpPr>
        <p:spPr>
          <a:xfrm>
            <a:off x="4965192" y="47457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4562856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01968" y="456285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601968" y="458114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auth, inputs, deps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451592" y="4745736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AF1EA"/>
          </a:solidFill>
          <a:ln/>
        </p:spPr>
      </p:sp>
      <p:sp>
        <p:nvSpPr>
          <p:cNvPr id="44" name="Text 42"/>
          <p:cNvSpPr/>
          <p:nvPr/>
        </p:nvSpPr>
        <p:spPr>
          <a:xfrm>
            <a:off x="10451592" y="47457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2960" y="5367528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115568" y="53675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i18n-checker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115568" y="538581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translation coverage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965192" y="5550408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AF1EA"/>
          </a:solidFill>
          <a:ln/>
        </p:spPr>
      </p:sp>
      <p:sp>
        <p:nvSpPr>
          <p:cNvPr id="49" name="Text 47"/>
          <p:cNvSpPr/>
          <p:nvPr/>
        </p:nvSpPr>
        <p:spPr>
          <a:xfrm>
            <a:off x="4965192" y="555040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09360" y="5367528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601968" y="53675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601968" y="538581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suite, report failures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10451592" y="5550408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AF1EA"/>
          </a:solidFill>
          <a:ln/>
        </p:spPr>
      </p:sp>
      <p:sp>
        <p:nvSpPr>
          <p:cNvPr id="54" name="Text 52"/>
          <p:cNvSpPr/>
          <p:nvPr/>
        </p:nvSpPr>
        <p:spPr>
          <a:xfrm>
            <a:off x="10451592" y="555040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RELATE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subagents are siblings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domain, two modes. </a:t>
            </a:r>
            <a:pPr indent="0" marL="0">
              <a:buNone/>
            </a:pPr>
            <a:r>
              <a:rPr lang="en-US" sz="140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injects knowledge into the current context. A subagent spawns a separate worker that returns only its result.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knowledge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1228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· delegated worker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FBF3D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260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40680" y="29260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12280" y="292608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E7EEF9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29260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438144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FBF3D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43814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find-bugs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40680" y="343814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12280" y="3438144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E7EEF9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343814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bug-hunter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3950208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FBF3DC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9502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40680" y="39502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3950208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E7EEF9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9502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" y="4462272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FBF3DC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46227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add-translation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40680" y="446227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12280" y="4462272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E7EEF9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446227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i18n-checker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22960" y="4974336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FBF3DC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49743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new-feature-route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40680" y="49743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812280" y="4974336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E7EEF9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49743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route-builder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22960" y="548640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FBF3DC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54864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wire-api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40680" y="54864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812280" y="548640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E7EEF9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54864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api-integrator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stand alone:  </a:t>
            </a:r>
            <a:pPr indent="0" marL="0">
              <a:buNone/>
            </a:pPr>
            <a:r>
              <a:rPr lang="en-US" sz="12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&amp; frontend-design (skill-only)  ·  planner, test-runner, ui-ux-designer, agent-manager (agent-only).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agent-manager runs the show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0" y="2377440"/>
            <a:ext cx="2514600" cy="0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34840" y="184708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8E5BE6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19933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23774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aggregates · sonnet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82128" y="1828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entry point. </a:t>
            </a:r>
            <a:pPr indent="0" marL="0">
              <a:buNone/>
            </a:pPr>
            <a:r>
              <a:rPr lang="en-US" sz="120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writes code — it routes to the right specialist(s), runs them in order, and returns one aggregated result.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82128" y="2697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 blueprint → keyword → ask if unclear.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57900" y="2907792"/>
            <a:ext cx="0" cy="384048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6020" y="3291840"/>
            <a:ext cx="7223760" cy="0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6020" y="3291840"/>
            <a:ext cx="0" cy="274320"/>
          </a:xfrm>
          <a:prstGeom prst="line">
            <a:avLst/>
          </a:prstGeom>
          <a:noFill/>
          <a:ln w="20320">
            <a:solidFill>
              <a:srgbClr val="D29A2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3621024"/>
            <a:ext cx="3246120" cy="243230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60704" y="384048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29A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704" y="38404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DESIGN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4297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pPr indent="0" marL="0">
              <a:buNone/>
            </a:pPr>
            <a:r>
              <a:rPr lang="en-US" sz="950" b="1" dirty="0">
                <a:solidFill>
                  <a:srgbClr val="8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6405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ui-ux-designer</a:t>
            </a:r>
            <a:pPr indent="0" marL="0">
              <a:buNone/>
            </a:pPr>
            <a:r>
              <a:rPr lang="en-US" sz="950" b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sonnet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57900" y="3291840"/>
            <a:ext cx="0" cy="274320"/>
          </a:xfrm>
          <a:prstGeom prst="line">
            <a:avLst/>
          </a:prstGeom>
          <a:noFill/>
          <a:ln w="20320">
            <a:solidFill>
              <a:srgbClr val="3E7FD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34840" y="3621024"/>
            <a:ext cx="3246120" cy="243230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72584" y="384048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3E7FD4"/>
          </a:solidFill>
          <a:ln/>
        </p:spPr>
      </p:sp>
      <p:sp>
        <p:nvSpPr>
          <p:cNvPr id="23" name="Text 21"/>
          <p:cNvSpPr/>
          <p:nvPr/>
        </p:nvSpPr>
        <p:spPr>
          <a:xfrm>
            <a:off x="4672584" y="38404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4297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route-builder</a:t>
            </a:r>
            <a:pPr indent="0" marL="0">
              <a:buNone/>
            </a:pPr>
            <a:r>
              <a:rPr lang="en-US" sz="950" b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sonnet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6405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api-integrator</a:t>
            </a:r>
            <a:pPr indent="0" marL="0">
              <a:buNone/>
            </a:pPr>
            <a:r>
              <a:rPr lang="en-US" sz="950" b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sonnet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69780" y="3291840"/>
            <a:ext cx="0" cy="274320"/>
          </a:xfrm>
          <a:prstGeom prst="line">
            <a:avLst/>
          </a:prstGeom>
          <a:noFill/>
          <a:ln w="20320">
            <a:solidFill>
              <a:srgbClr val="DE7A2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46720" y="3621024"/>
            <a:ext cx="3246120" cy="243230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4464" y="384048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E7A2B"/>
          </a:solidFill>
          <a:ln/>
        </p:spPr>
      </p:sp>
      <p:sp>
        <p:nvSpPr>
          <p:cNvPr id="29" name="Text 27"/>
          <p:cNvSpPr/>
          <p:nvPr/>
        </p:nvSpPr>
        <p:spPr>
          <a:xfrm>
            <a:off x="8284464" y="38404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4297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pPr indent="0" marL="0">
              <a:buNone/>
            </a:pPr>
            <a:r>
              <a:rPr lang="en-US" sz="950" b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sonnet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46405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pPr indent="0" marL="0">
              <a:buNone/>
            </a:pPr>
            <a:r>
              <a:rPr lang="en-US" sz="950" b="1" dirty="0">
                <a:solidFill>
                  <a:srgbClr val="8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4983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bug-hunter</a:t>
            </a:r>
            <a:pPr indent="0" marL="0">
              <a:buNone/>
            </a:pPr>
            <a:r>
              <a:rPr lang="en-US" sz="950" b="1" dirty="0">
                <a:solidFill>
                  <a:srgbClr val="8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opus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53263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pPr indent="0" marL="0">
              <a:buNone/>
            </a:pPr>
            <a:r>
              <a:rPr lang="en-US" sz="950" b="1" dirty="0">
                <a:solidFill>
                  <a:srgbClr val="8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opus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56692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i18n-checker</a:t>
            </a:r>
            <a:pPr indent="0" marL="0">
              <a:buNone/>
            </a:pPr>
            <a:r>
              <a:rPr lang="en-US" sz="950" b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sonnet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WORKFLOWS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agent-manager matches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847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  ·   each agent gets the prior agent's output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 with UI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690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2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pPr indent="0" marL="0">
              <a:buNone/>
            </a:pPr>
            <a:r>
              <a:rPr lang="en-US" sz="1150" dirty="0">
                <a:solidFill>
                  <a:srgbClr val="B7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2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ui-ux-designer</a:t>
            </a:r>
            <a:pPr indent="0" marL="0">
              <a:buNone/>
            </a:pPr>
            <a:r>
              <a:rPr lang="en-US" sz="1150" dirty="0">
                <a:solidFill>
                  <a:srgbClr val="B7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3E7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route-builder</a:t>
            </a:r>
            <a:pPr indent="0" marL="0">
              <a:buNone/>
            </a:pPr>
            <a:r>
              <a:rPr lang="en-US" sz="1150" dirty="0">
                <a:solidFill>
                  <a:srgbClr val="B7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7294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page or route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7294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2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pPr indent="0" marL="0">
              <a:buNone/>
            </a:pPr>
            <a:r>
              <a:rPr lang="en-US" sz="1150" dirty="0">
                <a:solidFill>
                  <a:srgbClr val="B7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3E7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route-builder</a:t>
            </a:r>
            <a:pPr indent="0" marL="0">
              <a:buNone/>
            </a:pPr>
            <a:r>
              <a:rPr lang="en-US" sz="1150" dirty="0">
                <a:solidFill>
                  <a:srgbClr val="B7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is ready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3172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7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api-integrator</a:t>
            </a:r>
            <a:pPr indent="0" marL="0">
              <a:buNone/>
            </a:pPr>
            <a:r>
              <a:rPr lang="en-US" sz="1150" dirty="0">
                <a:solidFill>
                  <a:srgbClr val="B7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6164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/ not working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69080" y="36164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bug-hunter</a:t>
            </a:r>
            <a:pPr indent="0" marL="0">
              <a:buNone/>
            </a:pPr>
            <a:r>
              <a:rPr lang="en-US" sz="1150" dirty="0">
                <a:solidFill>
                  <a:srgbClr val="B7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0599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59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pPr indent="0" marL="0">
              <a:buNone/>
            </a:pPr>
            <a:r>
              <a:rPr lang="en-US" sz="1150" dirty="0">
                <a:solidFill>
                  <a:srgbClr val="B7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5034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merge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69080" y="45034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i18n-checker</a:t>
            </a:r>
            <a:pPr indent="0" marL="0">
              <a:buNone/>
            </a:pPr>
            <a:r>
              <a:rPr lang="en-US" sz="1150" dirty="0">
                <a:solidFill>
                  <a:srgbClr val="B7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  ·   dispatched together, results merged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4681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X failing?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69080" y="5468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bug-hunter</a:t>
            </a:r>
            <a:pPr indent="0" marL="0">
              <a:buNone/>
            </a:pPr>
            <a:r>
              <a:rPr lang="en-US" sz="11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9115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pre-merge review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069080" y="59115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pPr indent="0" marL="0">
              <a:buNone/>
            </a:pPr>
            <a:r>
              <a:rPr lang="en-US" sz="11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pPr indent="0" marL="0">
              <a:buNone/>
            </a:pPr>
            <a:r>
              <a:rPr lang="en-US" sz="11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i18n-checker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Approvals screen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10561320" cy="530352"/>
          </a:xfrm>
          <a:prstGeom prst="roundRect">
            <a:avLst>
              <a:gd name="adj" fmla="val 13793"/>
            </a:avLst>
          </a:prstGeom>
          <a:solidFill>
            <a:srgbClr val="EFEBF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1051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pPr indent="0" marL="0">
              <a:buNone/>
            </a:pPr>
            <a:r>
              <a:rPr lang="en-US" sz="1350" i="1" dirty="0">
                <a:solidFill>
                  <a:srgbClr val="4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“agent-manager: build a Supervisor Approvals page (table + approve / reject), wired to /approvals.”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50545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agent-manager matches blueprint 1 (new page with UI) and runs: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916936"/>
            <a:ext cx="347472" cy="347472"/>
          </a:xfrm>
          <a:prstGeom prst="ellipse">
            <a:avLst/>
          </a:prstGeom>
          <a:solidFill>
            <a:srgbClr val="D29A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89888" y="2907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writes docs/plans/…-supervisor-approvals.md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921240" y="29260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2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3374136"/>
            <a:ext cx="347472" cy="347472"/>
          </a:xfrm>
          <a:prstGeom prst="ellipse">
            <a:avLst/>
          </a:prstGeom>
          <a:solidFill>
            <a:srgbClr val="D29A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33649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ui-ux-designer builds the page from @shared-ui, i18n'd (id/en/ar)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21240" y="3383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2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3831336"/>
            <a:ext cx="347472" cy="347472"/>
          </a:xfrm>
          <a:prstGeom prst="ellipse">
            <a:avLst/>
          </a:prstGeom>
          <a:solidFill>
            <a:srgbClr val="3E7FD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89888" y="38221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route-builder registers it in app/routes.ts, runs web:typegen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21240" y="3840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E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4288536"/>
            <a:ext cx="347472" cy="347472"/>
          </a:xfrm>
          <a:prstGeom prst="ellipse">
            <a:avLst/>
          </a:prstGeom>
          <a:solidFill>
            <a:srgbClr val="3E7FD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42793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api-integrator swaps mock for the real service + react-query hook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21240" y="4297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E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4745736"/>
            <a:ext cx="347472" cy="347472"/>
          </a:xfrm>
          <a:prstGeom prst="ellipse">
            <a:avLst/>
          </a:prstGeom>
          <a:solidFill>
            <a:srgbClr val="DE7A2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89888" y="4736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test-runner runs web:test + web:typecheck — failures only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21240" y="47548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8680" y="5202936"/>
            <a:ext cx="347472" cy="347472"/>
          </a:xfrm>
          <a:prstGeom prst="ellipse">
            <a:avLst/>
          </a:prstGeom>
          <a:solidFill>
            <a:srgbClr val="8E5BE6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202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89888" y="5193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agent-manager returns ONE summary: files, route, i18n keys, tests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21240" y="52120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E5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660136"/>
            <a:ext cx="347472" cy="347472"/>
          </a:xfrm>
          <a:prstGeom prst="ellipse">
            <a:avLst/>
          </a:prstGeom>
          <a:solidFill>
            <a:srgbClr val="DE7A2B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66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89888" y="56509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Pre-merge: code-reviewer + security-reviewer + i18n-checker (parallel)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21240" y="5669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" y="6172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fire throughout — routes.ts → web:typegen  ·  locale edits → parity test  ·  Biome formats every save.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you adopt it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615184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7" name="Text 5"/>
          <p:cNvSpPr/>
          <p:nvPr/>
        </p:nvSpPr>
        <p:spPr>
          <a:xfrm>
            <a:off x="1481328" y="2523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81328" y="29809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work follows one shared pattern.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615184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11" name="Text 9"/>
          <p:cNvSpPr/>
          <p:nvPr/>
        </p:nvSpPr>
        <p:spPr>
          <a:xfrm>
            <a:off x="6830568" y="2523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context tax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30568" y="29809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re-explaining the project every session.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4398264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5" name="Text 13"/>
          <p:cNvSpPr/>
          <p:nvPr/>
        </p:nvSpPr>
        <p:spPr>
          <a:xfrm>
            <a:off x="1481328" y="4306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81328" y="476402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+ hooks catch issues before they land.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06908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4398264"/>
            <a:ext cx="182880" cy="1828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9" name="Text 17"/>
          <p:cNvSpPr/>
          <p:nvPr/>
        </p:nvSpPr>
        <p:spPr>
          <a:xfrm>
            <a:off x="6830568" y="4306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not siloed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30568" y="476402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person’s workflow becomes the team’s.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starting one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2377440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9514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Layer 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80160" y="26974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alone remove most of the friction.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337560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552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Re-learn, don’t copy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280160" y="36576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content from the project; don’t paste someone else’s.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297680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1538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YAGNI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280160" y="46177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skill / agent / hook only for a real, repeated need.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5257800"/>
            <a:ext cx="182880" cy="1828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51755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in hooks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280160" y="55778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 one layer that works no matter the tool.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6D5DF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into any project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34086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first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27797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re-learns the repo’s stack, commands &amp; conventions.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43814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layers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80160" y="38770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→ Skills → Hooks → Subagents → Distribution.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617720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53542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only the tools you use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80160" y="4974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5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opencode, Cline — or another model provider.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715000"/>
            <a:ext cx="10561320" cy="603504"/>
          </a:xfrm>
          <a:prstGeom prst="roundRect">
            <a:avLst>
              <a:gd name="adj" fmla="val 9091"/>
            </a:avLst>
          </a:prstGeom>
          <a:solidFill>
            <a:srgbClr val="EDEEF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71500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D5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playbook lets the AI rebuild the kit for any stack — same method, new project.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Sharing Session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286000"/>
            <a:ext cx="329184" cy="329184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3" name="Shape 1"/>
          <p:cNvSpPr/>
          <p:nvPr/>
        </p:nvSpPr>
        <p:spPr>
          <a:xfrm>
            <a:off x="1325880" y="2286000"/>
            <a:ext cx="329184" cy="329184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4" name="Shape 2"/>
          <p:cNvSpPr/>
          <p:nvPr/>
        </p:nvSpPr>
        <p:spPr>
          <a:xfrm>
            <a:off x="1783080" y="2286000"/>
            <a:ext cx="329184" cy="329184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5" name="Shape 3"/>
          <p:cNvSpPr/>
          <p:nvPr/>
        </p:nvSpPr>
        <p:spPr>
          <a:xfrm>
            <a:off x="2240280" y="2286000"/>
            <a:ext cx="329184" cy="329184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6" name="Shape 4"/>
          <p:cNvSpPr/>
          <p:nvPr/>
        </p:nvSpPr>
        <p:spPr>
          <a:xfrm>
            <a:off x="2697480" y="2286000"/>
            <a:ext cx="329184" cy="329184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971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— let's talk.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ideas, or a layer you'd add?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  ·   5 layers, any tool, any project   ·   June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 Development Kit</dc:title>
  <dc:subject>PptxGenJS Presentation</dc:subject>
  <dc:creator>Alip</dc:creator>
  <cp:lastModifiedBy>Alip</cp:lastModifiedBy>
  <cp:revision>1</cp:revision>
  <dcterms:created xsi:type="dcterms:W3CDTF">2026-06-23T13:33:53Z</dcterms:created>
  <dcterms:modified xsi:type="dcterms:W3CDTF">2026-06-23T13:33:53Z</dcterms:modified>
</cp:coreProperties>
</file>